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25F1EA-040A-4096-ACBB-8B2F37E688E9}">
  <a:tblStyle styleId="{9D25F1EA-040A-4096-ACBB-8B2F37E688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a8b74bb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9a8b74bb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a8b74bbb_13_0)">
  <p:cSld name="Generated (g3f9a8b74bbb_13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5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53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1.png"/><Relationship Id="rId13" Type="http://schemas.openxmlformats.org/officeDocument/2006/relationships/image" Target="../media/image24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Relationship Id="rId15" Type="http://schemas.openxmlformats.org/officeDocument/2006/relationships/image" Target="../media/image26.png"/><Relationship Id="rId14" Type="http://schemas.openxmlformats.org/officeDocument/2006/relationships/image" Target="../media/image23.png"/><Relationship Id="rId16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32.png"/><Relationship Id="rId13" Type="http://schemas.openxmlformats.org/officeDocument/2006/relationships/image" Target="../media/image59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image" Target="../media/image67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68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Relationship Id="rId6" Type="http://schemas.openxmlformats.org/officeDocument/2006/relationships/image" Target="../media/image69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5.png"/><Relationship Id="rId7" Type="http://schemas.openxmlformats.org/officeDocument/2006/relationships/image" Target="../media/image45.png"/><Relationship Id="rId8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55.png"/><Relationship Id="rId13" Type="http://schemas.openxmlformats.org/officeDocument/2006/relationships/image" Target="../media/image65.png"/><Relationship Id="rId1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1.png"/><Relationship Id="rId7" Type="http://schemas.openxmlformats.org/officeDocument/2006/relationships/image" Target="../media/image64.png"/><Relationship Id="rId8" Type="http://schemas.openxmlformats.org/officeDocument/2006/relationships/image" Target="../media/image6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619125"/>
            <a:ext cx="3848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5676900"/>
            <a:ext cx="111061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542925" y="2357437"/>
            <a:ext cx="116490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Recipe Cuisine Classification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Using NLP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42925" y="365283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ingredient-driven natural language processing and Support Vector Machine framework for automated culinary origin prediction.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542925" y="5876925"/>
            <a:ext cx="2409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Domain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Natural Language Processing &amp; ML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3333750" y="5876925"/>
            <a:ext cx="2819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Kaggle What's Cooking (39,774 Recipes)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534150" y="5876925"/>
            <a:ext cx="2676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Primary Model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Ingredient-Aware TF-IDF + Linear SVM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591675" y="5876925"/>
            <a:ext cx="2028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Test Accuracy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78.39% (+1.97% vs Baseline)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897260"/>
            <a:ext cx="540067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897260"/>
            <a:ext cx="540067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87560"/>
            <a:ext cx="24288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15443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81050" y="2725935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Project Objective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81050" y="3068835"/>
            <a:ext cx="4924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Classify a recipe's authentic cuisine type using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only its list of ingredients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via Natural Language Processing (NLP) and Support Vector Machines (SVM).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15443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486525" y="2725935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Technical Challenges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5350" y="226873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047750" y="3907035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Extract semantics from unstructured ingredient textual lists.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47750" y="426898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 recipe text into sparse high-dimensional vector representations.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47750" y="485953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 multi-class culinary classification without reliance on preparation steps or title metadata.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4637" y="226873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753225" y="306883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Multi-word Tokens: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Ingredient names like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"soy sauce"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"olive oil"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lose distinct semantic identity if split into individual words.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53225" y="365938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Ingredient Overlap: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Common staples (salt, sugar, onions, garlic) exist across almost all global cuisines.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53225" y="424993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Sparse Feature Space: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Thousands of unique ingredients require robust high-dimensional text vectorization.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0112" y="428625"/>
            <a:ext cx="1128641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 &amp; Motivation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392608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428803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487858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308788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367843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4268985"/>
            <a:ext cx="762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540073"/>
            <a:ext cx="5400675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540073"/>
            <a:ext cx="5400675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87560"/>
            <a:ext cx="2143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81050" y="1778198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Reference Study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81050" y="2121098"/>
            <a:ext cx="4924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"Automatic Recipe Cuisine Classification by Ingredients" (2014)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486525" y="1778198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2014 Paper Cuisines &amp; SVM Accuracies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47750" y="246399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Representation: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Ingredients modeled via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Boolean representation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(Present = 1, Absent = 0).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47750" y="305454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Algorithms Explored: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Support Vector Machines (SVM), Associative Classification, and SVM + SVD.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47750" y="364509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Finding: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Linear SVM was established as the single strongest classification model in the study.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47750" y="423564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Note: The paper evaluated per-cuisine precision/recall across 6 cuisines and did NOT report a single overall accuracy metric.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6486525" y="2216348"/>
            <a:ext cx="4924425" cy="34575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16"/>
          <p:cNvGraphicFramePr/>
          <p:nvPr/>
        </p:nvGraphicFramePr>
        <p:xfrm>
          <a:off x="6486525" y="2216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{9D25F1EA-040A-4096-ACBB-8B2F37E688E9}</a:tableStyleId>
              </a:tblPr>
              <a:tblGrid>
                <a:gridCol w="1781925"/>
                <a:gridCol w="3132975"/>
              </a:tblGrid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Cuisine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Paper SVM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German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Spanish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Chinese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Japanese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9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Italian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6"/>
          <p:cNvSpPr/>
          <p:nvPr/>
        </p:nvSpPr>
        <p:spPr>
          <a:xfrm>
            <a:off x="8273206" y="4173735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273206" y="4669035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273206" y="5164335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63706" y="3797498"/>
            <a:ext cx="4667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3706" y="4788098"/>
            <a:ext cx="5143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71537" y="428625"/>
            <a:ext cx="11316414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Paper Foundation (2014 Benchmark)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24830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307359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36641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4254698"/>
            <a:ext cx="762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6491287" y="2687835"/>
            <a:ext cx="1781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273206" y="2687835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491287" y="3183135"/>
            <a:ext cx="178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273206" y="3183135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491287" y="3678435"/>
            <a:ext cx="1781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8273206" y="3678435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491287" y="4173735"/>
            <a:ext cx="1781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491287" y="4669035"/>
            <a:ext cx="1781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491287" y="5164335"/>
            <a:ext cx="17819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63706" y="2806898"/>
            <a:ext cx="5143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63706" y="3302198"/>
            <a:ext cx="5048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3706" y="4292798"/>
            <a:ext cx="5143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63706" y="5283398"/>
            <a:ext cx="4572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3545085"/>
            <a:ext cx="111061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1678185"/>
            <a:ext cx="35495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1075" y="1678185"/>
            <a:ext cx="3549699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9375" y="1678185"/>
            <a:ext cx="35495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7220" y="4240410"/>
            <a:ext cx="6263729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2925" y="487560"/>
            <a:ext cx="2143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81050" y="3783210"/>
            <a:ext cx="111613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Schema &amp; Primary Input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193536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81050" y="2506860"/>
            <a:ext cx="32269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39,774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81050" y="2849760"/>
            <a:ext cx="307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Recipes in Dataset</a:t>
            </a:r>
            <a:endParaRPr/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9200" y="193536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4559200" y="2506860"/>
            <a:ext cx="32271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 Cuisines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4559200" y="2849760"/>
            <a:ext cx="30734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 Class Labels</a:t>
            </a:r>
            <a:endParaRPr/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37500" y="193536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8337500" y="2506860"/>
            <a:ext cx="32269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6,313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337500" y="2849760"/>
            <a:ext cx="307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Final Feature Vocabulary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95350" y="204966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73500" y="204966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51800" y="20496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1047750" y="4126110"/>
            <a:ext cx="39089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Unique recipe identifier.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047750" y="4488060"/>
            <a:ext cx="39089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cuisine: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Target category (e.g., indian, italian, mexican, thai).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047750" y="5078610"/>
            <a:ext cx="39089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ingredients: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List of ingredient strings (Main NLP input).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71537" y="428625"/>
            <a:ext cx="11316414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Architecture (Kaggle What's Cooking)</a:t>
            </a:r>
            <a:endParaRPr/>
          </a:p>
        </p:txBody>
      </p:sp>
      <p:pic>
        <p:nvPicPr>
          <p:cNvPr descr="image.png" id="190" name="Google Shape;190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1050" y="4145160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1050" y="4507110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1050" y="5097660"/>
            <a:ext cx="762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79261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0425" y="279261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279261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15425" y="279261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399276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0425" y="399276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399276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15425" y="3992760"/>
            <a:ext cx="2533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487560"/>
            <a:ext cx="27146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24562" y="363081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723900" y="293548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Raw Recipe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23900" y="317361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Kaggle JSON Input</a:t>
            </a:r>
            <a:endParaRPr/>
          </a:p>
        </p:txBody>
      </p:sp>
      <p:pic>
        <p:nvPicPr>
          <p:cNvPr descr="image.png" id="210" name="Google Shape;2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90875" y="3049785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3581400" y="293548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Text Cleaning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3581400" y="317361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Lowercase + Punctuation</a:t>
            </a:r>
            <a:endParaRPr/>
          </a:p>
        </p:txBody>
      </p:sp>
      <p:pic>
        <p:nvPicPr>
          <p:cNvPr descr="image.png" id="213" name="Google Shape;21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48375" y="3049785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6438900" y="293548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Multi-word Tokenization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438900" y="317361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preserve compound units</a:t>
            </a:r>
            <a:endParaRPr/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05875" y="3049785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9296400" y="293548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Stratified Split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9296400" y="317361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80% Train / 20% Test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23900" y="413563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8. Final Prediction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23900" y="437376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Cuisine &amp; Confidence</a:t>
            </a:r>
            <a:endParaRPr/>
          </a:p>
        </p:txBody>
      </p:sp>
      <p:pic>
        <p:nvPicPr>
          <p:cNvPr descr="image.png" id="221" name="Google Shape;221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90875" y="4249935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3581400" y="413563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7. Test Evaluation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3581400" y="437376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80/20 Test Evaluation</a:t>
            </a:r>
            <a:endParaRPr/>
          </a:p>
        </p:txBody>
      </p:sp>
      <p:pic>
        <p:nvPicPr>
          <p:cNvPr descr="image.png" id="224" name="Google Shape;224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48375" y="4249935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6438900" y="413563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GridSearchCV Tuning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438900" y="437376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5-Fold CV (C=1 Best)</a:t>
            </a:r>
            <a:endParaRPr/>
          </a:p>
        </p:txBody>
      </p:sp>
      <p:pic>
        <p:nvPicPr>
          <p:cNvPr descr="image.png" id="227" name="Google Shape;22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05875" y="4249935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9296400" y="4135635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TF-IDF Vectorizer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9296400" y="437376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Ingredient-Aware Tokens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928687" y="428625"/>
            <a:ext cx="11256406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Methodology &amp; Execution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283023"/>
            <a:ext cx="54006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2283023"/>
            <a:ext cx="54006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4368998"/>
            <a:ext cx="46577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8756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781050" y="2540198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NLP Text Preprocessing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486525" y="2540198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Partitioning Setup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1047750" y="2883098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Lowercasing: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Uniform normalization across all ingredient lists.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1047750" y="324504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Punctuation &amp; Parenthetical Removal: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Stripped descriptors (e.g.,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"crushed"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"(10 oz.)"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047750" y="3835598"/>
            <a:ext cx="465772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Preserve Multi-Word Tokens: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Joined multi-word ingredients with underscores to form single semantic units.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753225" y="2883098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Split Ratio: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80% Training set, 20% Testing set.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753225" y="3245048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Set Size: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31,819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recipe samples.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6753225" y="3606998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Testing Set Size: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7,955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recipe samples.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753225" y="396894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Stratification: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Stratified sampling ensures identical cuisine class distributions in train and test splits.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6753225" y="4559498"/>
            <a:ext cx="4657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Reproducibility: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Fixed random_state = 42.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900112" y="428625"/>
            <a:ext cx="1128641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 &amp; Token Preservation Strategy</a:t>
            </a:r>
            <a:endParaRPr/>
          </a:p>
        </p:txBody>
      </p:sp>
      <p:pic>
        <p:nvPicPr>
          <p:cNvPr descr="image.png" id="251" name="Google Shape;25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29021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326409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38546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29021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26409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6260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98799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4578548"/>
            <a:ext cx="762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225873"/>
            <a:ext cx="540067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2225873"/>
            <a:ext cx="540067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8756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781050" y="2463998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Baseline Model Architecture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486525" y="2483048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Improved Tuned Model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047750" y="280689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Vectorization: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Standard TF-IDF vectorization without multi-word preservation.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1047750" y="3397448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Classifier: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Linear Support Vector Machine (Default parameters).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1047750" y="3759398"/>
            <a:ext cx="4657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Accuracy: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76.42%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047750" y="417849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Serves as the rigorous benchmark for evaluating vectorization and hyperparameter enhancements.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753225" y="2825948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Enhanced TF-IDF: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Ingredient-aware preservation of multi-word tokens.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753225" y="3416498"/>
            <a:ext cx="46577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Hyperparameter Search: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GridSearchCV over C = [0.1, 1, 10] using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5-Fold Stratified CV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753225" y="4026098"/>
            <a:ext cx="4657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Optimal Parameter: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 = 1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753225" y="4397573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CV Accuracy: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78.17%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6753225" y="4759523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Vocabulary Size: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6,313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distinct ingredient features.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900112" y="428625"/>
            <a:ext cx="1128641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Optimization &amp; GridSearchCV</a:t>
            </a:r>
            <a:endParaRPr/>
          </a:p>
        </p:txBody>
      </p:sp>
      <p:pic>
        <p:nvPicPr>
          <p:cNvPr descr="image.png" id="279" name="Google Shape;2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8259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41649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7784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1975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84499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4355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4045148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4416623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4778573"/>
            <a:ext cx="762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621160"/>
            <a:ext cx="111061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8542" y="2621160"/>
            <a:ext cx="3780383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48756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8106667" y="2992635"/>
            <a:ext cx="330413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 ACCURACY IMPROVEMENT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8106667" y="3230760"/>
            <a:ext cx="330413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+1.97%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8106667" y="3992760"/>
            <a:ext cx="330413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Percentage points gain achieved strictly by preserving compound tokens and hyperparameter tuning.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900112" y="428625"/>
            <a:ext cx="1128641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Comparison &amp; Accuracy Gain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4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2383035"/>
            <a:ext cx="5400675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487560"/>
            <a:ext cx="2143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/>
          <p:nvPr/>
        </p:nvSpPr>
        <p:spPr>
          <a:xfrm>
            <a:off x="542925" y="2492573"/>
            <a:ext cx="5400675" cy="24669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22"/>
          <p:cNvGraphicFramePr/>
          <p:nvPr/>
        </p:nvGraphicFramePr>
        <p:xfrm>
          <a:off x="542925" y="24925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{9D25F1EA-040A-4096-ACBB-8B2F37E688E9}</a:tableStyleId>
              </a:tblPr>
              <a:tblGrid>
                <a:gridCol w="2878925"/>
                <a:gridCol w="2512225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Evaluation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Executed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Weighted 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Weighted 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Weighted 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22"/>
          <p:cNvSpPr txBox="1"/>
          <p:nvPr/>
        </p:nvSpPr>
        <p:spPr>
          <a:xfrm>
            <a:off x="6486525" y="2621160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 Takeaways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547687" y="2964060"/>
            <a:ext cx="28789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3426618" y="2964060"/>
            <a:ext cx="2512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6753225" y="2964060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equal alignment of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Accuracy (78.39%)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Weighted Recall (78.39%)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confirms robust performance across class imbalances.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6753225" y="3783210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Weighted F1-Score of 77.98%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indicates strong precision-recall balance across all 20 global cuisine categories.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6753225" y="4373760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Linear SVM decision boundaries effectively segregate high-dimensional sparse ingredient spaces.</a:t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547687" y="3459360"/>
            <a:ext cx="28789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3426618" y="3459360"/>
            <a:ext cx="2512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547687" y="3954660"/>
            <a:ext cx="28789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426618" y="3954660"/>
            <a:ext cx="2512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547687" y="4449960"/>
            <a:ext cx="287893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3426618" y="4449960"/>
            <a:ext cx="25122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2983110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802260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392810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7118" y="3083123"/>
            <a:ext cx="7239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17118" y="3578423"/>
            <a:ext cx="685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7118" y="4073723"/>
            <a:ext cx="7239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17118" y="4569023"/>
            <a:ext cx="7239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871537" y="428625"/>
            <a:ext cx="11316414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Executed Test-Set Metrics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6" y="1421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3002160"/>
            <a:ext cx="35495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3002160"/>
            <a:ext cx="3549699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9375" y="3002160"/>
            <a:ext cx="35495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5450" y="410706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5450" y="431661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5450" y="452616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5450" y="473571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3600" y="4107060"/>
            <a:ext cx="162564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3600" y="4316610"/>
            <a:ext cx="162564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3600" y="4526160"/>
            <a:ext cx="162564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3600" y="4735710"/>
            <a:ext cx="162564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51900" y="410706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51900" y="431661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51900" y="452616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51900" y="4735710"/>
            <a:ext cx="16255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2925" y="487560"/>
            <a:ext cx="27146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 txBox="1"/>
          <p:nvPr/>
        </p:nvSpPr>
        <p:spPr>
          <a:xfrm>
            <a:off x="542925" y="1686060"/>
            <a:ext cx="111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model predicts new recipe origins from raw ingredient lists by calculating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normalized SVM decision function confidence scores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(not calibrated probabilities):</a:t>
            </a:r>
            <a:endParaRPr/>
          </a:p>
        </p:txBody>
      </p:sp>
      <p:pic>
        <p:nvPicPr>
          <p:cNvPr descr="image.png" id="351" name="Google Shape;351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950" y="3202185"/>
            <a:ext cx="12858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3"/>
          <p:cNvSpPr txBox="1"/>
          <p:nvPr/>
        </p:nvSpPr>
        <p:spPr>
          <a:xfrm>
            <a:off x="742950" y="3535560"/>
            <a:ext cx="314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Ingredients:</a:t>
            </a: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garam masala, turmeric, cumin, ginger, garlic, onions</a:t>
            </a:r>
            <a:endParaRPr/>
          </a:p>
        </p:txBody>
      </p:sp>
      <p:pic>
        <p:nvPicPr>
          <p:cNvPr descr="image.png" id="353" name="Google Shape;353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21100" y="3202185"/>
            <a:ext cx="1381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3"/>
          <p:cNvSpPr txBox="1"/>
          <p:nvPr/>
        </p:nvSpPr>
        <p:spPr>
          <a:xfrm>
            <a:off x="4521100" y="3535560"/>
            <a:ext cx="31496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Ingredients:</a:t>
            </a: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soy_sauce, sesame_oil, ginger, garlic, green_onions</a:t>
            </a:r>
            <a:endParaRPr/>
          </a:p>
        </p:txBody>
      </p:sp>
      <p:pic>
        <p:nvPicPr>
          <p:cNvPr descr="image.png" id="355" name="Google Shape;355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99400" y="3202185"/>
            <a:ext cx="14859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3"/>
          <p:cNvSpPr txBox="1"/>
          <p:nvPr/>
        </p:nvSpPr>
        <p:spPr>
          <a:xfrm>
            <a:off x="8299400" y="3535560"/>
            <a:ext cx="314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Ingredients:</a:t>
            </a: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mirin, dashi, sake, soy_sauce, miso_paste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742950" y="407848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Indian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3416200" y="407848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42.10%</a:t>
            </a: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742950" y="428803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Pakistani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3416200" y="428803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18.50%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742950" y="449758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Thai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3416200" y="449758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12.30%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742950" y="470713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Moroccan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3416200" y="470713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9.10%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4521100" y="407848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Chinese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7194500" y="407848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39.40%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4521100" y="428803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Japanese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7194500" y="428803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21.10%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4521100" y="449758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Korean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7194500" y="449758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15.60%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4521100" y="470713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Thai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7194500" y="470713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10.20%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8299400" y="407848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Japanese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10972651" y="407848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44.80%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8299400" y="428803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Chinese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10972651" y="428803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19.20%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8299400" y="449758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Korean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10972651" y="449758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16.40%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8299400" y="4707135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Vietnamese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10972651" y="470713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7.90%</a:t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1695450" y="4107060"/>
            <a:ext cx="1332904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1695450" y="4316610"/>
            <a:ext cx="487560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1695450" y="4526160"/>
            <a:ext cx="325040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1695450" y="4735710"/>
            <a:ext cx="243780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5473600" y="4107060"/>
            <a:ext cx="1267866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5473600" y="4316610"/>
            <a:ext cx="568969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473600" y="4526160"/>
            <a:ext cx="406300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473600" y="4735710"/>
            <a:ext cx="292596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9251900" y="4107060"/>
            <a:ext cx="1381571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9251900" y="4316610"/>
            <a:ext cx="520154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9251900" y="4526160"/>
            <a:ext cx="455116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9251900" y="4735710"/>
            <a:ext cx="194964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 txBox="1"/>
          <p:nvPr/>
        </p:nvSpPr>
        <p:spPr>
          <a:xfrm>
            <a:off x="928687" y="428625"/>
            <a:ext cx="11256406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Prediction Demo &amp; Confidence Scoring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144910"/>
            <a:ext cx="54006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2144910"/>
            <a:ext cx="54006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83210"/>
            <a:ext cx="49720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8325" y="4211835"/>
            <a:ext cx="32194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8325" y="4364235"/>
            <a:ext cx="32194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487560"/>
            <a:ext cx="24288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2344935"/>
            <a:ext cx="15525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4"/>
          <p:cNvSpPr txBox="1"/>
          <p:nvPr/>
        </p:nvSpPr>
        <p:spPr>
          <a:xfrm>
            <a:off x="771525" y="2754510"/>
            <a:ext cx="4972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Actual Cuisine: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Vietnamese 🇻🇳</a:t>
            </a:r>
            <a:endParaRPr/>
          </a:p>
        </p:txBody>
      </p:sp>
      <p:sp>
        <p:nvSpPr>
          <p:cNvPr id="407" name="Google Shape;407;p24"/>
          <p:cNvSpPr txBox="1"/>
          <p:nvPr/>
        </p:nvSpPr>
        <p:spPr>
          <a:xfrm>
            <a:off x="771525" y="3097410"/>
            <a:ext cx="4972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Ingredients: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rice noodles, fish sauce, lime, mint, cilantro, bean sprouts, chili</a:t>
            </a: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6486525" y="2402085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Analysis of Confusion</a:t>
            </a:r>
            <a:endParaRPr/>
          </a:p>
        </p:txBody>
      </p:sp>
      <p:sp>
        <p:nvSpPr>
          <p:cNvPr id="409" name="Google Shape;409;p24"/>
          <p:cNvSpPr txBox="1"/>
          <p:nvPr/>
        </p:nvSpPr>
        <p:spPr>
          <a:xfrm>
            <a:off x="885825" y="3897510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Prediction: Thai 🇹🇭</a:t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6753225" y="2744985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Shared Ingredient Profile: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Fish sauce, lime, cilantro, chili, and rice noodles are core components in both Thai and Vietnamese traditions.</a:t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6753225" y="3564135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Lack of Structural Context: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Bag-of-words NLP captures ingredient presence but lacks preparation techniques or broth profile context.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6753225" y="4383285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Insight: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Demonstrates a natural boundary of purely ingredient-based vector classification rather than a algorithmic defect.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885825" y="418326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Thai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5153025" y="418326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28.54%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885825" y="433566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Vietnamese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5153025" y="433566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24.10%</a:t>
            </a:r>
            <a:endParaRPr/>
          </a:p>
        </p:txBody>
      </p:sp>
      <p:pic>
        <p:nvPicPr>
          <p:cNvPr descr="image.png" id="417" name="Google Shape;41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276403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358318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4402335"/>
            <a:ext cx="762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4"/>
          <p:cNvSpPr/>
          <p:nvPr/>
        </p:nvSpPr>
        <p:spPr>
          <a:xfrm>
            <a:off x="1838325" y="4211835"/>
            <a:ext cx="1867197" cy="9525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1838325" y="4364235"/>
            <a:ext cx="1609725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900112" y="428625"/>
            <a:ext cx="11286410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Limitation: Failure Case Study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373510"/>
            <a:ext cx="54006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2373510"/>
            <a:ext cx="54006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5" y="487560"/>
            <a:ext cx="2143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5"/>
          <p:cNvSpPr txBox="1"/>
          <p:nvPr/>
        </p:nvSpPr>
        <p:spPr>
          <a:xfrm>
            <a:off x="781050" y="2630685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Conclusions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6486525" y="2630685"/>
            <a:ext cx="51706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Scope &amp; Enhancements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1047750" y="297358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Established a baseline TF-IDF + Linear SVM classifier achieving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76.42% accuracy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1047750" y="356413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Multi-word token preservation and hyperparameter tuning increased final accuracy to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78.39%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(+1.97% gain).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1047750" y="415468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Proved that statistical NLP on ingredient strings effectively captures distinct regional culinary signatures.</a:t>
            </a:r>
            <a:endParaRPr/>
          </a:p>
        </p:txBody>
      </p:sp>
      <p:sp>
        <p:nvSpPr>
          <p:cNvPr id="436" name="Google Shape;436;p25"/>
          <p:cNvSpPr txBox="1"/>
          <p:nvPr/>
        </p:nvSpPr>
        <p:spPr>
          <a:xfrm>
            <a:off x="6753225" y="297358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Richer Context Representation: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Incorporate cooking instructions, quantities, and preparation techniques.</a:t>
            </a:r>
            <a:endParaRPr/>
          </a:p>
        </p:txBody>
      </p:sp>
      <p:sp>
        <p:nvSpPr>
          <p:cNvPr id="437" name="Google Shape;437;p25"/>
          <p:cNvSpPr txBox="1"/>
          <p:nvPr/>
        </p:nvSpPr>
        <p:spPr>
          <a:xfrm>
            <a:off x="6753225" y="3564135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Advanced NLP Embeddings: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Explore domain-adapted Transformer embeddings (e.g., FoodBERT or Sentence-Transformers).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6753225" y="4383285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Expansion: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Balance class distributions and expand dataset volume for under-represented regional cuisines.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871537" y="428625"/>
            <a:ext cx="11316414" cy="36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 &amp; Future Scope</a:t>
            </a:r>
            <a:endParaRPr/>
          </a:p>
        </p:txBody>
      </p:sp>
      <p:pic>
        <p:nvPicPr>
          <p:cNvPr descr="image.png" id="440" name="Google Shape;44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299263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358318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417373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299263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583185"/>
            <a:ext cx="762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402335"/>
            <a:ext cx="762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6"/>
          <p:cNvSpPr txBox="1"/>
          <p:nvPr/>
        </p:nvSpPr>
        <p:spPr>
          <a:xfrm>
            <a:off x="1333500" y="1905000"/>
            <a:ext cx="9525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 that was Cuisine-Sense (</a:t>
            </a:r>
            <a:r>
              <a:rPr b="0" lang="en-US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Recipe Cuisine Classification Using NLP)</a:t>
            </a:r>
            <a:endParaRPr b="0" sz="11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 !!</a:t>
            </a:r>
            <a:endParaRPr b="0" sz="54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Exploring regional culinary signatures through vector classification.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2" name="Google Shape;452;p26"/>
          <p:cNvCxnSpPr/>
          <p:nvPr/>
        </p:nvCxnSpPr>
        <p:spPr>
          <a:xfrm>
            <a:off x="1333500" y="4381500"/>
            <a:ext cx="9525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26"/>
          <p:cNvSpPr txBox="1"/>
          <p:nvPr/>
        </p:nvSpPr>
        <p:spPr>
          <a:xfrm>
            <a:off x="1333500" y="47625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Presenter: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Prasanna</a:t>
            </a:r>
            <a:r>
              <a:rPr lang="en-US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</a:t>
            </a:r>
            <a:r>
              <a:rPr b="0" lang="en-US" sz="1400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hree B</a:t>
            </a:r>
            <a:endParaRPr b="0" sz="1400">
              <a:solidFill>
                <a:srgbClr val="E2E8F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4381500" y="47625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Class: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MCA - Sec A</a:t>
            </a:r>
            <a:endParaRPr b="0" sz="1400">
              <a:solidFill>
                <a:srgbClr val="E2E8F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7429500" y="47625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Register Number: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2511022250032</a:t>
            </a:r>
            <a:endParaRPr b="0" sz="1400">
              <a:solidFill>
                <a:srgbClr val="E2E8F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